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24"/>
    <p:sldId id="274" r:id="rId25"/>
    <p:sldId id="275" r:id="rId26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hyperlink" Target="https://learn.microsoft.com/en-us/fabric/data-factory/connector-overview" TargetMode="External"/><Relationship Id="rId2" Type="http://schemas.openxmlformats.org/officeDocument/2006/relationships/hyperlink" Target="https://learn.microsoft.com/en-us/fabric/data-factory/connector-overview" TargetMode="External"/><Relationship Id="rId3" Type="http://schemas.openxmlformats.org/officeDocument/2006/relationships/hyperlink" Target="https://learn.microsoft.com/en-us/fabric/mirroring/sap" TargetMode="External"/><Relationship Id="rId4" Type="http://schemas.openxmlformats.org/officeDocument/2006/relationships/hyperlink" Target="https://learn.microsoft.com/en-us/fabric/mirroring/sap" TargetMode="External"/><Relationship Id="rId5" Type="http://schemas.openxmlformats.org/officeDocument/2006/relationships/hyperlink" Target="https://learn.microsoft.com/en-us/fabric/data-factory/cdc-copy-job" TargetMode="External"/><Relationship Id="rId6" Type="http://schemas.openxmlformats.org/officeDocument/2006/relationships/hyperlink" Target="https://learn.microsoft.com/en-us/fabric/data-factory/cdc-copy-job" TargetMode="External"/><Relationship Id="rId7" Type="http://schemas.openxmlformats.org/officeDocument/2006/relationships/hyperlink" Target="https://learn.microsoft.com/en-us/fabric/real-time-intelligence/event-streams/add-source-sap-datasphere" TargetMode="External"/><Relationship Id="rId8" Type="http://schemas.openxmlformats.org/officeDocument/2006/relationships/hyperlink" Target="https://learn.microsoft.com/en-us/fabric/real-time-intelligence/event-streams/add-source-sap-datasphere" TargetMode="External"/><Relationship Id="rId9" Type="http://schemas.openxmlformats.org/officeDocument/2006/relationships/hyperlink" Target="https://learn.microsoft.com/en-us/fabric/mirroring/open-mirroring-partners-ecosystem" TargetMode="External"/><Relationship Id="rId10" Type="http://schemas.openxmlformats.org/officeDocument/2006/relationships/hyperlink" Target="https://learn.microsoft.com/en-us/fabric/mirroring/open-mirroring-partners-ecosystem" TargetMode="External"/><Relationship Id="rId11" Type="http://schemas.openxmlformats.org/officeDocument/2006/relationships/hyperlink" Target="https://learn.microsoft.com/en-us/fabric/fundamentals/direct-lake-security-integration" TargetMode="External"/><Relationship Id="rId12" Type="http://schemas.openxmlformats.org/officeDocument/2006/relationships/hyperlink" Target="https://learn.microsoft.com/en-us/fabric/fundamentals/direct-lake-security-integration" TargetMode="External"/><Relationship Id="rId13" Type="http://schemas.openxmlformats.org/officeDocument/2006/relationships/hyperlink" Target="https://learn.microsoft.com/en-us/azure/data-factory/sap-change-data-capture-introduction-architecture" TargetMode="External"/><Relationship Id="rId14" Type="http://schemas.openxmlformats.org/officeDocument/2006/relationships/hyperlink" Target="https://learn.microsoft.com/en-us/azure/data-factory/sap-change-data-capture-introduction-architecture" TargetMode="External"/><Relationship Id="rId15" Type="http://schemas.openxmlformats.org/officeDocument/2006/relationships/hyperlink" Target="https://learn.microsoft.com/en-us/azure/sap/business-process-solutions/about-business-process-solutions" TargetMode="External"/><Relationship Id="rId16" Type="http://schemas.openxmlformats.org/officeDocument/2006/relationships/hyperlink" Target="https://learn.microsoft.com/en-us/azure/sap/business-process-solutions/about-business-process-solutions" TargetMode="External"/><Relationship Id="rId17" Type="http://schemas.openxmlformats.org/officeDocument/2006/relationships/hyperlink" Target="https://learn.microsoft.com/en-us/azure/sap/business-process-solutions/release-notes" TargetMode="External"/><Relationship Id="rId18" Type="http://schemas.openxmlformats.org/officeDocument/2006/relationships/hyperlink" Target="https://learn.microsoft.com/en-us/azure/sap/business-process-solutions/release-notes" TargetMode="External"/><Relationship Id="rId19" Type="http://schemas.openxmlformats.org/officeDocument/2006/relationships/hyperlink" Target="https://community.sap.com/t5/data-and-ai-professionals-q-a/sap-bdc-connect-for-microsoft-fabric-ga/qaq-p/14469254" TargetMode="External"/><Relationship Id="rId20" Type="http://schemas.openxmlformats.org/officeDocument/2006/relationships/hyperlink" Target="https://community.sap.com/t5/data-and-ai-professionals-q-a/sap-bdc-connect-for-microsoft-fabric-ga/qaq-p/14469254" TargetMode="External"/><Relationship Id="rId21" Type="http://schemas.openxmlformats.org/officeDocument/2006/relationships/hyperlink" Target="https://community.fabric.microsoft.com/blog/fbc_fabricupdatesblogs/fabric-september-2026-feature-summary/5325825" TargetMode="External"/><Relationship Id="rId22" Type="http://schemas.openxmlformats.org/officeDocument/2006/relationships/hyperlink" Target="https://community.fabric.microsoft.com/blog/fbc_fabricupdatesblogs/fabric-september-2026-feature-summary/5325825" TargetMode="External"/><Relationship Id="rId23" Type="http://schemas.openxmlformats.org/officeDocument/2006/relationships/hyperlink" Target="https://github.com/fredgis/fabric-foundry-kb/blob/main/markdown/SAP_Fabric_Connectivity.md" TargetMode="External"/><Relationship Id="rId24" Type="http://schemas.openxmlformats.org/officeDocument/2006/relationships/hyperlink" Target="https://github.com/fredgis/fabric-foundry-kb/blob/main/markdown/SAP_Fabric_Connectivity.md" TargetMode="External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371600"/>
            <a:ext cx="1051560" cy="548640"/>
          </a:xfrm>
          <a:prstGeom prst="line">
            <a:avLst/>
          </a:prstGeom>
          <a:noFill/>
          <a:ln w="16510">
            <a:solidFill>
              <a:srgbClr val="8D78A8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7909560" y="1874520"/>
            <a:ext cx="960120" cy="731520"/>
          </a:xfrm>
          <a:prstGeom prst="line">
            <a:avLst/>
          </a:prstGeom>
          <a:noFill/>
          <a:ln w="16510">
            <a:solidFill>
              <a:srgbClr val="8D78A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823960" y="2606040"/>
            <a:ext cx="960120" cy="1234440"/>
          </a:xfrm>
          <a:prstGeom prst="line">
            <a:avLst/>
          </a:prstGeom>
          <a:noFill/>
          <a:ln w="16510">
            <a:solidFill>
              <a:srgbClr val="8D78A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092440" y="2834640"/>
            <a:ext cx="1691640" cy="960120"/>
          </a:xfrm>
          <a:prstGeom prst="line">
            <a:avLst/>
          </a:prstGeom>
          <a:noFill/>
          <a:ln w="16510">
            <a:solidFill>
              <a:srgbClr val="8D78A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269480" y="4343400"/>
            <a:ext cx="2468880" cy="137160"/>
          </a:xfrm>
          <a:prstGeom prst="line">
            <a:avLst/>
          </a:prstGeom>
          <a:noFill/>
          <a:ln w="16510">
            <a:solidFill>
              <a:srgbClr val="8D78A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46520" y="868680"/>
            <a:ext cx="1325880" cy="86868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94183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600200"/>
            <a:ext cx="1325880" cy="86868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0" y="167335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movement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3063240"/>
            <a:ext cx="1572768" cy="86868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43800" y="3136392"/>
            <a:ext cx="13898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Federation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exchange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72600" y="3246120"/>
            <a:ext cx="1325880" cy="868680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64040" y="331927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CDC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46920" y="4572000"/>
            <a:ext cx="1508760" cy="86868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38360" y="4645152"/>
            <a:ext cx="13258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OneLake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Fabric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56235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B9BC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EIGHT CONNECTIVITY PATTERNS + BPS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46520" y="5907024"/>
            <a:ext cx="329184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59893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903720" y="5907024"/>
            <a:ext cx="329184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59893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7360920" y="5907024"/>
            <a:ext cx="329184" cy="329184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59893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818120" y="5907024"/>
            <a:ext cx="329184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59893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8275320" y="5907024"/>
            <a:ext cx="329184" cy="32918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59893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8732520" y="5907024"/>
            <a:ext cx="329184" cy="32918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59893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189720" y="5907024"/>
            <a:ext cx="329184" cy="32918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59893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M7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9646920" y="5907024"/>
            <a:ext cx="329184" cy="329184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46920" y="59893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713232" y="1143000"/>
            <a:ext cx="5623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to Microsoft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Fabric Connectivity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749808" y="281635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7D9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options, decision paths, and production controls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49808" y="5349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C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whitepaper v2.3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BC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 6 October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TAKEAWAY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 with the requirement, not the connector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03504" y="1261872"/>
            <a:ext cx="3703320" cy="4526280"/>
          </a:xfrm>
          <a:prstGeom prst="rect">
            <a:avLst/>
          </a:prstGeom>
          <a:solidFill>
            <a:srgbClr val="242038"/>
          </a:solidFill>
          <a:ln w="10160">
            <a:solidFill>
              <a:srgbClr val="242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6420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There is no universal</a:t>
            </a:r>
            <a:endParaRPr lang="en-US" sz="2900" dirty="0"/>
          </a:p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connector.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035808"/>
            <a:ext cx="2944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E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source path and data guarantee first. BPS can then provide deployed SAP processing and business models.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956048"/>
            <a:ext cx="2514600" cy="29260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010912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 THE GUARANTEE FIRST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261872"/>
            <a:ext cx="3154680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82312" y="1426464"/>
            <a:ext cx="475488" cy="34747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48590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6672" y="1426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movement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18888" y="2011680"/>
            <a:ext cx="27523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into OneLake, or keep the primary data in SAP?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074152" y="1261872"/>
            <a:ext cx="3154680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38744" y="1426464"/>
            <a:ext cx="475488" cy="34747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148590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33104" y="1426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semantics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75320" y="2011680"/>
            <a:ext cx="27523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copy, watermark, latest state, or every change?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617720" y="3520440"/>
            <a:ext cx="3154680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3685032"/>
            <a:ext cx="475488" cy="347472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3744468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76672" y="368503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control plane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18888" y="4270248"/>
            <a:ext cx="27523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Datasphere, BTP, BDC, or no SAP-managed intermediary?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8074152" y="3520440"/>
            <a:ext cx="3154680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38744" y="3685032"/>
            <a:ext cx="475488" cy="347472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8744" y="3744468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33104" y="368503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Operating owner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75320" y="4270248"/>
            <a:ext cx="27523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team, SAP team, or a partner runtime?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4617720" y="5897880"/>
            <a:ext cx="6611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freshness label such as "near real-time" is not enough. Define the end-to-end threshold and test it on the real path.</a:t>
            </a:r>
            <a:endParaRPr lang="en-US" sz="1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Eight connectivity patterns, plus the BPS solution layer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03504" y="1298448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463040"/>
            <a:ext cx="457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52247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62456" y="146304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Factory extraction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2377440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and watermark ingestion. ABAP Add-On remains Preview.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" y="2048256"/>
            <a:ext cx="1280160" cy="2926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10312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 + PREVIEW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56432" y="1298448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21024" y="1463040"/>
            <a:ext cx="4572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152247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15384" y="146304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Mirroring through Datasphere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657600" y="2377440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two-stage replica into OneLake.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0" y="2048256"/>
            <a:ext cx="685800" cy="29260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10312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1298448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73952" y="1463040"/>
            <a:ext cx="457200" cy="34747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152247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68312" y="146304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 Job CDC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10528" y="2377440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state from Datasphere deltas. Confirm destination write modes.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10528" y="2048256"/>
            <a:ext cx="1417320" cy="29260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210312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62288" y="1298448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26880" y="1463040"/>
            <a:ext cx="457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0" y="152247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21240" y="146304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Semantic federation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363456" y="2377440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queries SAP without a bulk OneLake replica.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363456" y="2048256"/>
            <a:ext cx="685800" cy="29260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63456" y="210312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" y="3648456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3813048"/>
            <a:ext cx="457200" cy="3474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" y="387248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62456" y="3813048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Datasphere governed exchange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04672" y="4727448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SAP-owned curation combined with a transport method.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04672" y="4398264"/>
            <a:ext cx="1051560" cy="2926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445312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AVAILABLE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56432" y="3648456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21024" y="3813048"/>
            <a:ext cx="45720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1024" y="387248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15384" y="3813048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Event-driven integration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3657600" y="4727448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Datasphere source is GA. Business-event bridges need review.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657600" y="4398264"/>
            <a:ext cx="1051560" cy="2926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45312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AVAILABLE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09360" y="3648456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73952" y="3813048"/>
            <a:ext cx="457200" cy="34747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387248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68312" y="3813048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Mirroring partners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6510528" y="4727448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CDC when Datasphere is unavailable or undesirable.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510528" y="4398264"/>
            <a:ext cx="1325880" cy="292608"/>
          </a:xfrm>
          <a:prstGeom prst="rect">
            <a:avLst/>
          </a:prstGeom>
          <a:solidFill>
            <a:srgbClr val="76717F"/>
          </a:solidFill>
          <a:ln w="12700">
            <a:solidFill>
              <a:srgbClr val="76717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44531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VERIFY PARTNER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162288" y="3648456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326880" y="3813048"/>
            <a:ext cx="457200" cy="34747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0" y="387248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M8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921240" y="3813048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BDC Connect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9363456" y="4727448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target: end Q1 2027, subject to change. No confirmed GA.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363456" y="4398264"/>
            <a:ext cx="914400" cy="29260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63456" y="44531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PLANNED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Reference architecture: connectivity and BPS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697480" y="1984248"/>
            <a:ext cx="914400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3401568"/>
            <a:ext cx="914400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4818888"/>
            <a:ext cx="914400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01000" y="1984248"/>
            <a:ext cx="932688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3401568"/>
            <a:ext cx="932688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01000" y="4818888"/>
            <a:ext cx="932688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" y="1481328"/>
            <a:ext cx="2039112" cy="3913632"/>
          </a:xfrm>
          <a:prstGeom prst="rect">
            <a:avLst/>
          </a:prstGeom>
          <a:solidFill>
            <a:srgbClr val="EFEAF3"/>
          </a:solidFill>
          <a:ln w="10160">
            <a:solidFill>
              <a:srgbClr val="BDAB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18105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2C8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estate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2423160"/>
            <a:ext cx="15179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S/4HANA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ECC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BW and BW/4HANA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HANA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Datasphere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BTP and Event Mesh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Data Cloud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3621024" y="1444752"/>
            <a:ext cx="4379976" cy="1078992"/>
          </a:xfrm>
          <a:prstGeom prst="rect">
            <a:avLst/>
          </a:prstGeom>
          <a:solidFill>
            <a:srgbClr val="F7F3F8"/>
          </a:solidFill>
          <a:ln w="10160">
            <a:solidFill>
              <a:srgbClr val="DE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4488" y="16276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 and replicate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904488" y="200253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Extraction, managed mirroring, Copy Job CDC, or partner CDC.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839712" y="1728216"/>
            <a:ext cx="219456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189280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104888" y="1728216"/>
            <a:ext cx="219456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04888" y="189280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370064" y="1728216"/>
            <a:ext cx="219456" cy="43891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0064" y="189280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635240" y="1728216"/>
            <a:ext cx="219456" cy="43891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89280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M7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621024" y="2862072"/>
            <a:ext cx="4379976" cy="1078992"/>
          </a:xfrm>
          <a:prstGeom prst="rect">
            <a:avLst/>
          </a:prstGeom>
          <a:solidFill>
            <a:srgbClr val="F2EEF8"/>
          </a:solidFill>
          <a:ln w="10160">
            <a:solidFill>
              <a:srgbClr val="DE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04488" y="30449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Query and govern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3904488" y="341985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SAP queries or SAP-owned curation and release control.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839712" y="3145536"/>
            <a:ext cx="219456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331012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7104888" y="3145536"/>
            <a:ext cx="219456" cy="43891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04888" y="331012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621024" y="4279392"/>
            <a:ext cx="4379976" cy="1078992"/>
          </a:xfrm>
          <a:prstGeom prst="rect">
            <a:avLst/>
          </a:prstGeom>
          <a:solidFill>
            <a:srgbClr val="F7F1FA"/>
          </a:solidFill>
          <a:ln w="10160">
            <a:solidFill>
              <a:srgbClr val="DE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04488" y="44622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 and plan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3904488" y="48371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events today and BDC sharing after public GA.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6839712" y="4562856"/>
            <a:ext cx="219456" cy="43891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9712" y="47274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7104888" y="4562856"/>
            <a:ext cx="219456" cy="43891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04888" y="47274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8942832" y="1481328"/>
            <a:ext cx="2578608" cy="3913632"/>
          </a:xfrm>
          <a:prstGeom prst="rect">
            <a:avLst/>
          </a:prstGeom>
          <a:solidFill>
            <a:srgbClr val="242038"/>
          </a:solidFill>
          <a:ln w="10160">
            <a:solidFill>
              <a:srgbClr val="2420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17152" y="18105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Fabric outcomes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189720" y="2423160"/>
            <a:ext cx="208483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OneLake Delta tables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Lakehouse and Warehouse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analytics endpoint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semantic models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Spark and notebooks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Eventstream and Eventhouse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Activator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3621024" y="5650992"/>
            <a:ext cx="790041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67912" y="5824728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BPS adds SAP connections, notebooks, pipelines and business models above these data paths.</a:t>
            </a:r>
            <a:endParaRPr lang="en-US" sz="12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SELECTION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the data guarantee before the transport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94944" y="1298448"/>
            <a:ext cx="530352" cy="530352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46304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44752" y="13716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Must data move into OneLake?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4944" y="2340864"/>
            <a:ext cx="530352" cy="53035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50545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44752" y="24140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change semantics are required?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" y="3383280"/>
            <a:ext cx="530352" cy="530352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547872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44752" y="34564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SAP-managed component is available?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4944" y="4425696"/>
            <a:ext cx="530352" cy="530352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4590288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44752" y="44988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owns operations and support?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guarantee ladder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97296" y="2011680"/>
            <a:ext cx="0" cy="2907792"/>
          </a:xfrm>
          <a:prstGeom prst="line">
            <a:avLst/>
          </a:prstGeom>
          <a:noFill/>
          <a:ln w="25400">
            <a:solidFill>
              <a:srgbClr val="625D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05272" y="1938528"/>
            <a:ext cx="384048" cy="384048"/>
          </a:xfrm>
          <a:prstGeom prst="ellipse">
            <a:avLst/>
          </a:prstGeom>
          <a:solidFill>
            <a:srgbClr val="5B2C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1783080"/>
            <a:ext cx="4992624" cy="868680"/>
          </a:xfrm>
          <a:prstGeom prst="rect">
            <a:avLst/>
          </a:prstGeom>
          <a:solidFill>
            <a:srgbClr val="F2EEF5"/>
          </a:solidFill>
          <a:ln w="10160">
            <a:solidFill>
              <a:srgbClr val="CEC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194767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or watermark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73952" y="2231136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1 when the source object and gateway path fit.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5605272" y="3035808"/>
            <a:ext cx="384048" cy="384048"/>
          </a:xfrm>
          <a:prstGeom prst="ellipse">
            <a:avLst/>
          </a:prstGeom>
          <a:solidFill>
            <a:srgbClr val="7F3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2880360"/>
            <a:ext cx="4992624" cy="868680"/>
          </a:xfrm>
          <a:prstGeom prst="rect">
            <a:avLst/>
          </a:prstGeom>
          <a:solidFill>
            <a:srgbClr val="F5F0FA"/>
          </a:solidFill>
          <a:ln w="10160">
            <a:solidFill>
              <a:srgbClr val="D9C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304495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Latest state from deltas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473952" y="3328416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Methods 2, 3, or a verified Method 7 partner.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5605272" y="4133088"/>
            <a:ext cx="384048" cy="384048"/>
          </a:xfrm>
          <a:prstGeom prst="ellipse">
            <a:avLst/>
          </a:prstGeom>
          <a:solidFill>
            <a:srgbClr val="C239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72784" y="3977640"/>
            <a:ext cx="4992624" cy="868680"/>
          </a:xfrm>
          <a:prstGeom prst="rect">
            <a:avLst/>
          </a:prstGeom>
          <a:solidFill>
            <a:srgbClr val="FAEFF9"/>
          </a:solidFill>
          <a:ln w="10160">
            <a:solidFill>
              <a:srgbClr val="EDC4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414223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intermediate change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73952" y="4425696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default method guarantees this. Validate an event log or partner contract.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694944" y="5687568"/>
            <a:ext cx="10570464" cy="530352"/>
          </a:xfrm>
          <a:prstGeom prst="rect">
            <a:avLst/>
          </a:prstGeom>
          <a:solidFill>
            <a:srgbClr val="F7F3F8"/>
          </a:solidFill>
          <a:ln w="10160">
            <a:solidFill>
              <a:srgbClr val="D9CE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852160"/>
            <a:ext cx="10131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Replace labels such as "near real-time" with a measured threshold from SAP commit to approved consumer visibility.</a:t>
            </a:r>
            <a:endParaRPr lang="en-US" sz="12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ELIGIBILITY GATE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Compatibility is not the same as extractable delta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487168" y="1938528"/>
            <a:ext cx="502920" cy="0"/>
          </a:xfrm>
          <a:prstGeom prst="line">
            <a:avLst/>
          </a:prstGeom>
          <a:noFill/>
          <a:ln w="17780">
            <a:solidFill>
              <a:srgbClr val="625D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3232" y="1417320"/>
            <a:ext cx="1591056" cy="1078992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1490472"/>
            <a:ext cx="1408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Edition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" y="1243584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2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3167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42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572000" y="1938528"/>
            <a:ext cx="502920" cy="0"/>
          </a:xfrm>
          <a:prstGeom prst="line">
            <a:avLst/>
          </a:prstGeom>
          <a:noFill/>
          <a:ln w="17780">
            <a:solidFill>
              <a:srgbClr val="625D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98064" y="1417320"/>
            <a:ext cx="1591056" cy="10789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89504" y="1490472"/>
            <a:ext cx="1408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Release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Notes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35224" y="1243584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B2C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5224" y="13167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2C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656832" y="1938528"/>
            <a:ext cx="502920" cy="0"/>
          </a:xfrm>
          <a:prstGeom prst="line">
            <a:avLst/>
          </a:prstGeom>
          <a:noFill/>
          <a:ln w="17780">
            <a:solidFill>
              <a:srgbClr val="625D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82896" y="1417320"/>
            <a:ext cx="1591056" cy="107899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74336" y="1490472"/>
            <a:ext cx="1408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 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0056" y="1243584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F3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13167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7F3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741664" y="1938528"/>
            <a:ext cx="502920" cy="0"/>
          </a:xfrm>
          <a:prstGeom prst="line">
            <a:avLst/>
          </a:prstGeom>
          <a:noFill/>
          <a:ln w="17780">
            <a:solidFill>
              <a:srgbClr val="625D7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67728" y="1417320"/>
            <a:ext cx="1591056" cy="1078992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59168" y="1490472"/>
            <a:ext cx="1408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04888" y="1243584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239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04888" y="13167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239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052560" y="1417320"/>
            <a:ext cx="1591056" cy="1078992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0" y="1490472"/>
            <a:ext cx="1408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semantics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89720" y="1243584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20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13167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42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713232" y="2971800"/>
            <a:ext cx="5257800" cy="1124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1C4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136392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2C8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S/4HANA on-premises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3447288"/>
            <a:ext cx="4855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release, extraction-enabled CDS object, key behavior, and required SAP Notes.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6263640" y="2971800"/>
            <a:ext cx="5257800" cy="1124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BC9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3136392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F3F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ECC and BW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64808" y="3447288"/>
            <a:ext cx="4855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ODP 2.0 BW/SAPI DataSources. Do not infer support from the system name alone.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713232" y="4389120"/>
            <a:ext cx="5257800" cy="1124712"/>
          </a:xfrm>
          <a:prstGeom prst="rect">
            <a:avLst/>
          </a:prstGeom>
          <a:solidFill>
            <a:srgbClr val="FFFFFF"/>
          </a:solidFill>
          <a:ln w="10160">
            <a:solidFill>
              <a:srgbClr val="EEC8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553712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39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ABAP Add-On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" y="4864608"/>
            <a:ext cx="4855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S/4HANA, ECC EhP 8, BW 7.50, and BW/4HANA. Full or watermark extraction only; still Preview.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6263640" y="4389120"/>
            <a:ext cx="5257800" cy="11247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C1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4553712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HANA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464808" y="4864608"/>
            <a:ext cx="4855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the selected views, client drivers, aggregation behavior, and query or load mode.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FABRIC-OWNED INGESTION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M1: Fabric Data Factory extraction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03504" y="1252728"/>
            <a:ext cx="6656832" cy="4315968"/>
          </a:xfrm>
          <a:prstGeom prst="rect">
            <a:avLst/>
          </a:prstGeom>
          <a:solidFill>
            <a:srgbClr val="FFFFFF"/>
          </a:solidFill>
          <a:ln w="10160">
            <a:solidFill>
              <a:srgbClr val="F4D9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Classic connector path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0280" y="2418588"/>
            <a:ext cx="182880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31336" y="2418588"/>
            <a:ext cx="182880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22392" y="2418588"/>
            <a:ext cx="182880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" y="1938528"/>
            <a:ext cx="1335024" cy="96012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9264" y="2011680"/>
            <a:ext cx="1152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BW,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HANA, Table,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 OData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68880" y="1938528"/>
            <a:ext cx="1335024" cy="96012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0" y="2011680"/>
            <a:ext cx="1152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Gateway plus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NCo or HANA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59936" y="1938528"/>
            <a:ext cx="1335024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51376" y="2011680"/>
            <a:ext cx="1152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Dataflow,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Pipeline, 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 Job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50992" y="1938528"/>
            <a:ext cx="1335024" cy="96012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42432" y="2011680"/>
            <a:ext cx="1152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Lakehouse,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Warehouse,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 SQL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824" y="3227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ABAP Add-On path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980590" y="4073652"/>
            <a:ext cx="109728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38805" y="4073652"/>
            <a:ext cx="109728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97019" y="4073652"/>
            <a:ext cx="109728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55234" y="4073652"/>
            <a:ext cx="109728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7824" y="3593592"/>
            <a:ext cx="1075334" cy="96012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9264" y="3666744"/>
            <a:ext cx="89245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S/4, ECC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BW, BW/4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2136038" y="3593592"/>
            <a:ext cx="1075334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227478" y="3666744"/>
            <a:ext cx="89245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ABAP Add-On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Preview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394253" y="3593592"/>
            <a:ext cx="1075334" cy="96012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85693" y="3666744"/>
            <a:ext cx="89245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OneLake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staging over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652467" y="3593592"/>
            <a:ext cx="1075334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43907" y="3666744"/>
            <a:ext cx="89245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 Job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910682" y="3593592"/>
            <a:ext cx="1075334" cy="96012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02122" y="3666744"/>
            <a:ext cx="89245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Fabric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destination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77824" y="4846320"/>
            <a:ext cx="6108192" cy="438912"/>
          </a:xfrm>
          <a:prstGeom prst="rect">
            <a:avLst/>
          </a:prstGeom>
          <a:solidFill>
            <a:srgbClr val="F7F3F8"/>
          </a:solidFill>
          <a:ln w="10160">
            <a:solidFill>
              <a:srgbClr val="D9CE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4992624"/>
            <a:ext cx="576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Both paths are full or watermark patterns, not source-native delete-aware CDC.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7534656" y="1252728"/>
            <a:ext cx="4050792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735824" y="1417320"/>
            <a:ext cx="3666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Classic connectors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35824" y="1810512"/>
            <a:ext cx="364845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Established SAP BW, BW Open Hub, HANA, SAP Table, and OData paths.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 supported batch and watermark workloads.</a:t>
            </a:r>
            <a:endParaRPr lang="en-US" sz="1320" dirty="0"/>
          </a:p>
        </p:txBody>
      </p:sp>
      <p:sp>
        <p:nvSpPr>
          <p:cNvPr id="42" name="Shape 40"/>
          <p:cNvSpPr/>
          <p:nvPr/>
        </p:nvSpPr>
        <p:spPr>
          <a:xfrm>
            <a:off x="10149840" y="1444752"/>
            <a:ext cx="1051560" cy="29260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49840" y="149961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AVAILABLE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534656" y="3502152"/>
            <a:ext cx="4050792" cy="2066544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35824" y="3666744"/>
            <a:ext cx="3666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ABAP Add-On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35824" y="4059936"/>
            <a:ext cx="364845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Preview. OPDG starts extraction; SAP uses ABAP SQL and writes to OneLake over HTTPS.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ECC EhP 8, BW 7.50, S/4HANA and BW/4HANA. Full or watermark loads, not delete-aware CDC.</a:t>
            </a:r>
            <a:endParaRPr lang="en-US" sz="1280" dirty="0"/>
          </a:p>
        </p:txBody>
      </p:sp>
      <p:sp>
        <p:nvSpPr>
          <p:cNvPr id="47" name="Shape 45"/>
          <p:cNvSpPr/>
          <p:nvPr/>
        </p:nvSpPr>
        <p:spPr>
          <a:xfrm>
            <a:off x="10149840" y="3694176"/>
            <a:ext cx="1051560" cy="2926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49840" y="374904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PREVIEW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3504" y="5779008"/>
            <a:ext cx="10981944" cy="457200"/>
          </a:xfrm>
          <a:prstGeom prst="rect">
            <a:avLst/>
          </a:prstGeom>
          <a:solidFill>
            <a:srgbClr val="F7F3F8"/>
          </a:solidFill>
          <a:ln w="10160">
            <a:solidFill>
              <a:srgbClr val="D9CE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" y="5925312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M1 only when full or watermark extraction satisfies the business guarantee.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16459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MANAGED REPLICATION AND COPY JOB CDC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M2 and M3: SAP Datasphere as the replication layer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03504" y="1234440"/>
            <a:ext cx="5504688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0D8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472184"/>
            <a:ext cx="987552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52704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M2  GA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0" y="1453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7D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Mirroring through Datasphere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417064" y="2235708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1752" y="2235708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6112" y="1901952"/>
            <a:ext cx="1493520" cy="66751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7552" y="1975104"/>
            <a:ext cx="1310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source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90800" y="1901952"/>
            <a:ext cx="1493520" cy="6675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82240" y="1975104"/>
            <a:ext cx="1310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Datasphere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Replication Flow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85488" y="1901952"/>
            <a:ext cx="1493520" cy="66751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76928" y="1975104"/>
            <a:ext cx="1310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ADLS Gen2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Parquet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0" y="2606040"/>
            <a:ext cx="0" cy="210312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89632" y="3172968"/>
            <a:ext cx="201168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4084320" y="3172968"/>
            <a:ext cx="201168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896112" y="2834640"/>
            <a:ext cx="1493520" cy="66751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87552" y="2907792"/>
            <a:ext cx="1310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OneLake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Delta tables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90800" y="2834640"/>
            <a:ext cx="1493520" cy="66751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82240" y="2907792"/>
            <a:ext cx="1310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Mirrored SAP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85488" y="2834640"/>
            <a:ext cx="1493520" cy="66751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76928" y="2907792"/>
            <a:ext cx="1310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Lakehouse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shortcut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96112" y="3831336"/>
            <a:ext cx="48920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two-stage replication: SAP to ADLS, then Fabric to OneLake.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object below the configured shortcut path is ingested.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fit: managed SAP replica with Datasphere available.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6373368" y="1234440"/>
            <a:ext cx="521208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C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1472184"/>
            <a:ext cx="1664208" cy="292608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152704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M3  GA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485632" y="14538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8B2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 Job CDC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8065008" y="2235708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6064" y="2235708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647688" y="1901952"/>
            <a:ext cx="1389888" cy="66751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39128" y="1975104"/>
            <a:ext cx="1207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source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8238744" y="1901952"/>
            <a:ext cx="1389888" cy="6675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30184" y="1975104"/>
            <a:ext cx="1207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Datasphere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Replication Flow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9829800" y="1901952"/>
            <a:ext cx="1389888" cy="66751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921240" y="1975104"/>
            <a:ext cx="1207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ADLS, S3,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 GCS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10451592" y="2606040"/>
            <a:ext cx="0" cy="210312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796528" y="3172968"/>
            <a:ext cx="274320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headEnd type="triangle"/>
          </a:ln>
        </p:spPr>
      </p:sp>
      <p:sp>
        <p:nvSpPr>
          <p:cNvPr id="46" name="Shape 44"/>
          <p:cNvSpPr/>
          <p:nvPr/>
        </p:nvSpPr>
        <p:spPr>
          <a:xfrm>
            <a:off x="6647688" y="2834640"/>
            <a:ext cx="2148840" cy="66751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739128" y="2907792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Lakehouse,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Warehouse,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 SQL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9070848" y="2834640"/>
            <a:ext cx="2148840" cy="66751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62288" y="2907792"/>
            <a:ext cx="1965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Fabric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 Job CDC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647688" y="3831336"/>
            <a:ext cx="4590288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Destination choice and Fabric-controlled scheduling.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changes reproduce current state, not every intermediate update.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September confirms CDC GA; validate each source/destination write mode.</a:t>
            </a:r>
            <a:endParaRPr lang="en-US" sz="1230" dirty="0"/>
          </a:p>
        </p:txBody>
      </p:sp>
      <p:sp>
        <p:nvSpPr>
          <p:cNvPr id="51" name="Shape 49"/>
          <p:cNvSpPr/>
          <p:nvPr/>
        </p:nvSpPr>
        <p:spPr>
          <a:xfrm>
            <a:off x="603504" y="5843016"/>
            <a:ext cx="10981944" cy="384048"/>
          </a:xfrm>
          <a:prstGeom prst="rect">
            <a:avLst/>
          </a:prstGeom>
          <a:solidFill>
            <a:srgbClr val="F4F1F7"/>
          </a:solidFill>
          <a:ln w="10160">
            <a:solidFill>
              <a:srgbClr val="D9CE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0392" y="5961888"/>
            <a:ext cx="10469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Shared prerequisites: SAP Datasphere Premium Outbound, Parquet, Group Delta = None, and split monitoring across SAP and Fabric.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16459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SAP-LED ACCESS PATTERNS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M4 and M5: keep SAP authoritative or let SAP curate the exchange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03504" y="1234440"/>
            <a:ext cx="5504688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B9D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472184"/>
            <a:ext cx="98755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52704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M4  GA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0" y="1453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65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Semantic federation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993392" y="2491740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64408" y="2491740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35424" y="2491740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6112" y="2057400"/>
            <a:ext cx="1069848" cy="86868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7552" y="2130552"/>
            <a:ext cx="886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BW,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HANA, or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Datasphere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167128" y="2057400"/>
            <a:ext cx="106984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58568" y="2130552"/>
            <a:ext cx="886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Gateway,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HANA client,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 ODBC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438144" y="2057400"/>
            <a:ext cx="1069848" cy="86868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29584" y="2130552"/>
            <a:ext cx="886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semantic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709160" y="2057400"/>
            <a:ext cx="1069848" cy="86868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130552"/>
            <a:ext cx="886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96112" y="3127248"/>
            <a:ext cx="4882896" cy="384048"/>
          </a:xfrm>
          <a:prstGeom prst="rect">
            <a:avLst/>
          </a:prstGeom>
          <a:solidFill>
            <a:srgbClr val="F2EEF8"/>
          </a:solidFill>
          <a:ln w="10160">
            <a:solidFill>
              <a:srgbClr val="D9CE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3255264"/>
            <a:ext cx="4517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Query-time access: no bulk landing in OneLake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3675888"/>
            <a:ext cx="488289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data remains in SAP; query results cross the network and may be cached.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when SAP calculations stay authoritative.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capacity, gateway identity, and Power BI modeling limits become the main constraints.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Per-user SAP authorization requires an identity design that preserves user context.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373368" y="1234440"/>
            <a:ext cx="521208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B3D7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1472184"/>
            <a:ext cx="1325880" cy="29260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52704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M5  AVAILABLE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156448" y="145389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79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Datasphere governed exchange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065008" y="2244852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56064" y="2244852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47688" y="1901952"/>
            <a:ext cx="1389888" cy="68580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39128" y="1975104"/>
            <a:ext cx="1207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source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systems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238744" y="1901952"/>
            <a:ext cx="1389888" cy="6858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30184" y="1975104"/>
            <a:ext cx="1207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Datasphere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models and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products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829800" y="1901952"/>
            <a:ext cx="1389888" cy="68580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921240" y="1975104"/>
            <a:ext cx="1207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storage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10515600" y="2624328"/>
            <a:ext cx="0" cy="173736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037576" y="3154680"/>
            <a:ext cx="201168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headEnd type="triangle"/>
          </a:ln>
        </p:spPr>
      </p:sp>
      <p:sp>
        <p:nvSpPr>
          <p:cNvPr id="42" name="Shape 40"/>
          <p:cNvSpPr/>
          <p:nvPr/>
        </p:nvSpPr>
        <p:spPr>
          <a:xfrm>
            <a:off x="9628632" y="3154680"/>
            <a:ext cx="201168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6647688" y="2816352"/>
            <a:ext cx="1389888" cy="68580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739128" y="2889504"/>
            <a:ext cx="1207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 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Fabric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38744" y="2816352"/>
            <a:ext cx="1389888" cy="68580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330184" y="2889504"/>
            <a:ext cx="1207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Convert or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load to Delta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9829800" y="2816352"/>
            <a:ext cx="1389888" cy="68580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921240" y="2889504"/>
            <a:ext cx="1207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shortcut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47688" y="3675888"/>
            <a:ext cx="4572000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SAP team owns curation, quality rules, and release control.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 combined with M2, M3, or M6 for transport.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shortcut exposes files but does not convert arbitrary Parquet into Delta.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OneLake to Datasphere is currently a replication-flow source with Initial Only behavior.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1645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STREAMING AND PARTNER PATHS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M6 and M7: operational events or partner-managed CDC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03504" y="1234440"/>
            <a:ext cx="5504688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DC6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472184"/>
            <a:ext cx="1325880" cy="2926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52704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M6  SAP GA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95728" y="14538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241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Event-driven integration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417064" y="2244852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1752" y="2244852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6112" y="1901952"/>
            <a:ext cx="1493520" cy="68580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7552" y="1975104"/>
            <a:ext cx="131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source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590800" y="1901952"/>
            <a:ext cx="1493520" cy="6858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82240" y="1975104"/>
            <a:ext cx="131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Datasphere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Replication Flow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285488" y="1901952"/>
            <a:ext cx="1493520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76928" y="1975104"/>
            <a:ext cx="131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Eventstream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Kafka endpoint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TCP 9093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029200" y="2624328"/>
            <a:ext cx="0" cy="18288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00400" y="3154680"/>
            <a:ext cx="274320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896112" y="2816352"/>
            <a:ext cx="2304288" cy="68580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7552" y="2889504"/>
            <a:ext cx="21214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Eventhouse,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Lakehouse,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 Activator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2816352"/>
            <a:ext cx="2304288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66160" y="2889504"/>
            <a:ext cx="21214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Transform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route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602736"/>
            <a:ext cx="4882896" cy="2267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9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 SAP Datasphere source creates a managed Kafka endpoint. Match its topic name and keep Delete All Before Loading off.</a:t>
            </a:r>
            <a:endParaRPr lang="en-US" sz="1190" dirty="0"/>
          </a:p>
          <a:p>
            <a:pPr marL="177800" indent="-177800">
              <a:buSzPct val="100000"/>
              <a:buChar char="•"/>
            </a:pPr>
            <a:r>
              <a:rPr lang="en-US" sz="119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message contract includes L, I, U, A, X, D, and M operations.</a:t>
            </a:r>
            <a:endParaRPr lang="en-US" sz="1190" dirty="0"/>
          </a:p>
          <a:p>
            <a:pPr marL="177800" indent="-177800">
              <a:buSzPct val="100000"/>
              <a:buChar char="•"/>
            </a:pPr>
            <a:r>
              <a:rPr lang="en-US" sz="119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Key-only deletes and missing sequence values require explicit sink logic.</a:t>
            </a:r>
            <a:endParaRPr lang="en-US" sz="1190" dirty="0"/>
          </a:p>
          <a:p>
            <a:pPr marL="177800" indent="-177800">
              <a:buSzPct val="100000"/>
              <a:buChar char="•"/>
            </a:pPr>
            <a:r>
              <a:rPr lang="en-US" sz="119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Variable-schema CDC can lose columns or records at a Lakehouse destination.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6373368" y="1234440"/>
            <a:ext cx="521208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3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1472184"/>
            <a:ext cx="1481328" cy="2926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527048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M7  VERIFY PARTNER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302752" y="14538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338C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Mirroring partners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065008" y="2244852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56064" y="2244852"/>
            <a:ext cx="12801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47688" y="1901952"/>
            <a:ext cx="1389888" cy="68580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39128" y="1975104"/>
            <a:ext cx="1207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ECC,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S/4HANA,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 BW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38744" y="1901952"/>
            <a:ext cx="1389888" cy="6858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330184" y="1975104"/>
            <a:ext cx="1207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Partner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extraction 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CDC runtime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829800" y="1901952"/>
            <a:ext cx="1389888" cy="68580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921240" y="1975104"/>
            <a:ext cx="12070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Mirroring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landing zone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451592" y="2624328"/>
            <a:ext cx="0" cy="18288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796528" y="3154680"/>
            <a:ext cx="274320" cy="0"/>
          </a:xfrm>
          <a:prstGeom prst="line">
            <a:avLst/>
          </a:prstGeom>
          <a:noFill/>
          <a:ln w="21590">
            <a:solidFill>
              <a:srgbClr val="697089"/>
            </a:solidFill>
            <a:prstDash val="solid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6647688" y="2816352"/>
            <a:ext cx="2148840" cy="685800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739128" y="2889504"/>
            <a:ext cx="1965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OneLake Delta,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SQL,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070848" y="2816352"/>
            <a:ext cx="2148840" cy="6858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162288" y="2889504"/>
            <a:ext cx="1965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Fabric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mirrored database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647688" y="3602736"/>
            <a:ext cx="4572000" cy="2267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9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when Datasphere is unavailable or undesirable.</a:t>
            </a:r>
            <a:endParaRPr lang="en-US" sz="1190" dirty="0"/>
          </a:p>
          <a:p>
            <a:pPr marL="177800" indent="-177800">
              <a:buSzPct val="100000"/>
              <a:buChar char="•"/>
            </a:pPr>
            <a:r>
              <a:rPr lang="en-US" sz="119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the exact SAP product, release, extraction mechanism, and certification.</a:t>
            </a:r>
            <a:endParaRPr lang="en-US" sz="1190" dirty="0"/>
          </a:p>
          <a:p>
            <a:pPr marL="177800" indent="-177800">
              <a:buSzPct val="100000"/>
              <a:buChar char="•"/>
            </a:pPr>
            <a:r>
              <a:rPr lang="en-US" sz="119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initial load, deletes, replay, source load, and landing-zone conformance.</a:t>
            </a:r>
            <a:endParaRPr lang="en-US" sz="1190" dirty="0"/>
          </a:p>
          <a:p>
            <a:pPr marL="177800" indent="-177800">
              <a:buSzPct val="100000"/>
              <a:buChar char="•"/>
            </a:pPr>
            <a:r>
              <a:rPr lang="en-US" sz="119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a partner license and a three-party support boundary.</a:t>
            </a:r>
            <a:endParaRPr lang="en-US" sz="11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16459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7797" y="0"/>
            <a:ext cx="4063898" cy="164592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ROADMAP AND LIFECYCLE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M8 is a planning option; legacy ADF SAP CDC is a migration risk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03504" y="1234440"/>
            <a:ext cx="69037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6B9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472184"/>
            <a:ext cx="1234440" cy="29260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52704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M8  PLANNED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13432" y="14538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D145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Business Data Cloud Connect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6112" y="1965960"/>
            <a:ext cx="2011680" cy="2011680"/>
          </a:xfrm>
          <a:prstGeom prst="rect">
            <a:avLst/>
          </a:prstGeom>
          <a:solidFill>
            <a:srgbClr val="F7F1FA"/>
          </a:solidFill>
          <a:ln w="10160">
            <a:solidFill>
              <a:srgbClr val="DE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167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Business Data Cloud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" y="2615184"/>
            <a:ext cx="1517904" cy="594360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34440" y="2688336"/>
            <a:ext cx="13350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Governed SAP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products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1143000" y="3310128"/>
            <a:ext cx="1517904" cy="420624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34440" y="338328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Joule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2907792" y="2907792"/>
            <a:ext cx="530352" cy="0"/>
          </a:xfrm>
          <a:prstGeom prst="line">
            <a:avLst/>
          </a:prstGeom>
          <a:noFill/>
          <a:ln w="22860">
            <a:solidFill>
              <a:srgbClr val="7A7188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47288" y="2542032"/>
            <a:ext cx="1143000" cy="74980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38728" y="2615184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BDC Connect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99432" y="2907792"/>
            <a:ext cx="502920" cy="0"/>
          </a:xfrm>
          <a:prstGeom prst="line">
            <a:avLst/>
          </a:prstGeom>
          <a:noFill/>
          <a:ln w="22860">
            <a:solidFill>
              <a:srgbClr val="7A7188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20640" y="1965960"/>
            <a:ext cx="2112264" cy="2011680"/>
          </a:xfrm>
          <a:prstGeom prst="rect">
            <a:avLst/>
          </a:prstGeom>
          <a:solidFill>
            <a:srgbClr val="F2EEF8"/>
          </a:solidFill>
          <a:ln w="10160">
            <a:solidFill>
              <a:srgbClr val="DE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16712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Fabric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04104" y="2596896"/>
            <a:ext cx="1545336" cy="53035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95544" y="2670048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OneLake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5404104" y="3246120"/>
            <a:ext cx="1545336" cy="53035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95544" y="331927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BI, Fabric,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Foundry, and Copilot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6112" y="4443984"/>
            <a:ext cx="6272784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Announced as bidirectional, zero-copy sharing between SAP BDC and OneLake.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Community now targets end Q1 2027, subject to change. No GA was confirmed at FabCon Europe.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commit it as the sole production path until region, identity, semantics, quotas, and commercial terms are documented.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7790688" y="1234440"/>
            <a:ext cx="3794760" cy="4892040"/>
          </a:xfrm>
          <a:prstGeom prst="rect">
            <a:avLst/>
          </a:prstGeom>
          <a:solidFill>
            <a:srgbClr val="FAF0F8"/>
          </a:solidFill>
          <a:ln w="10160">
            <a:solidFill>
              <a:srgbClr val="D9CE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159105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239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Existing ADF SAP CDC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8092440" y="2139696"/>
            <a:ext cx="2395728" cy="29260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2440" y="2194560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 ASSESSMENT REQUIRED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92440" y="2697480"/>
            <a:ext cx="3154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Note 3255746 can block ODP RFC calls from third-party clients, including the ADF SAP CDC connector.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8092440" y="3995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Migration candidates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119872" y="4370832"/>
            <a:ext cx="29718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M2 Mirroring through Datasphere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M1 ABAP Add-On where watermark is sufficient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M7 verified partner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M8 after GA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EIGHT METHODS ON ONE PAGE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Comparison 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03504" y="1243584"/>
            <a:ext cx="1965960" cy="457200"/>
          </a:xfrm>
          <a:prstGeom prst="rect">
            <a:avLst/>
          </a:prstGeom>
          <a:solidFill>
            <a:srgbClr val="24203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362456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Method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569464" y="1243584"/>
            <a:ext cx="1600200" cy="457200"/>
          </a:xfrm>
          <a:prstGeom prst="rect">
            <a:avLst/>
          </a:prstGeom>
          <a:solidFill>
            <a:srgbClr val="24203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362456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Status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169664" y="1243584"/>
            <a:ext cx="3063240" cy="457200"/>
          </a:xfrm>
          <a:prstGeom prst="rect">
            <a:avLst/>
          </a:prstGeom>
          <a:solidFill>
            <a:srgbClr val="24203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362456"/>
            <a:ext cx="2935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Best fit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232904" y="1243584"/>
            <a:ext cx="4352544" cy="457200"/>
          </a:xfrm>
          <a:prstGeom prst="rect">
            <a:avLst/>
          </a:prstGeom>
          <a:solidFill>
            <a:srgbClr val="24203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362456"/>
            <a:ext cx="4224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Main trade-off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3504" y="1700784"/>
            <a:ext cx="1965960" cy="585216"/>
          </a:xfrm>
          <a:prstGeom prst="rect">
            <a:avLst/>
          </a:prstGeom>
          <a:solidFill>
            <a:srgbClr val="D97706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1783080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M1 Data Factory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9464" y="1700784"/>
            <a:ext cx="16002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1783080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 plus Preview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169664" y="1700784"/>
            <a:ext cx="30632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1783080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or watermark extraction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232904" y="1700784"/>
            <a:ext cx="4352544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1783080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and SAP source load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03504" y="2286000"/>
            <a:ext cx="1965960" cy="585216"/>
          </a:xfrm>
          <a:prstGeom prst="rect">
            <a:avLst/>
          </a:prstGeom>
          <a:solidFill>
            <a:srgbClr val="2E7D32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368296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M2 Mirroring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9464" y="2286000"/>
            <a:ext cx="1600200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368296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169664" y="2286000"/>
            <a:ext cx="3063240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2368296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managed replica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232904" y="2286000"/>
            <a:ext cx="4352544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96912" y="2368296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Datasphere, Premium Outbound, and ADLS staging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03504" y="2871216"/>
            <a:ext cx="1965960" cy="585216"/>
          </a:xfrm>
          <a:prstGeom prst="rect">
            <a:avLst/>
          </a:prstGeom>
          <a:solidFill>
            <a:srgbClr val="558B2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295351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M3 Copy Job CDC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569464" y="2871216"/>
            <a:ext cx="16002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2953512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GA; verify pair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4169664" y="2871216"/>
            <a:ext cx="30632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33672" y="2953512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state from net changes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7232904" y="2871216"/>
            <a:ext cx="4352544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96912" y="2953512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schedulers, net changes, and pair-specific write modes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603504" y="3456432"/>
            <a:ext cx="1965960" cy="585216"/>
          </a:xfrm>
          <a:prstGeom prst="rect">
            <a:avLst/>
          </a:prstGeom>
          <a:solidFill>
            <a:srgbClr val="1565C0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353872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M4 Federation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569464" y="3456432"/>
            <a:ext cx="1600200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33472" y="3538728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4169664" y="3456432"/>
            <a:ext cx="3063240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33672" y="3538728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query while data stays in SAP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7232904" y="3456432"/>
            <a:ext cx="4352544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6912" y="3538728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query load and Power BI modeling limits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603504" y="4041648"/>
            <a:ext cx="1965960" cy="585216"/>
          </a:xfrm>
          <a:prstGeom prst="rect">
            <a:avLst/>
          </a:prstGeom>
          <a:solidFill>
            <a:srgbClr val="00796B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" y="412394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M5 Exchange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569464" y="4041648"/>
            <a:ext cx="16002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33472" y="4123944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4169664" y="4041648"/>
            <a:ext cx="30632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33672" y="4123944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SAP-governed data exchange</a:t>
            </a:r>
            <a:endParaRPr lang="en-US" sz="1120" dirty="0"/>
          </a:p>
        </p:txBody>
      </p:sp>
      <p:sp>
        <p:nvSpPr>
          <p:cNvPr id="54" name="Shape 52"/>
          <p:cNvSpPr/>
          <p:nvPr/>
        </p:nvSpPr>
        <p:spPr>
          <a:xfrm>
            <a:off x="7232904" y="4041648"/>
            <a:ext cx="4352544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96912" y="4123944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Format, direction, and Premium Outbound</a:t>
            </a:r>
            <a:endParaRPr lang="en-US" sz="1120" dirty="0"/>
          </a:p>
        </p:txBody>
      </p:sp>
      <p:sp>
        <p:nvSpPr>
          <p:cNvPr id="56" name="Shape 54"/>
          <p:cNvSpPr/>
          <p:nvPr/>
        </p:nvSpPr>
        <p:spPr>
          <a:xfrm>
            <a:off x="603504" y="4626864"/>
            <a:ext cx="1965960" cy="585216"/>
          </a:xfrm>
          <a:prstGeom prst="rect">
            <a:avLst/>
          </a:prstGeom>
          <a:solidFill>
            <a:srgbClr val="C2410C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" y="4709160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M6 Events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2569464" y="4626864"/>
            <a:ext cx="1600200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33472" y="4709160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</a:t>
            </a:r>
            <a:endParaRPr lang="en-US" sz="1120" dirty="0"/>
          </a:p>
        </p:txBody>
      </p:sp>
      <p:sp>
        <p:nvSpPr>
          <p:cNvPr id="60" name="Shape 58"/>
          <p:cNvSpPr/>
          <p:nvPr/>
        </p:nvSpPr>
        <p:spPr>
          <a:xfrm>
            <a:off x="4169664" y="4626864"/>
            <a:ext cx="3063240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33672" y="4709160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events and streaming analytics</a:t>
            </a:r>
            <a:endParaRPr lang="en-US" sz="1120" dirty="0"/>
          </a:p>
        </p:txBody>
      </p:sp>
      <p:sp>
        <p:nvSpPr>
          <p:cNvPr id="62" name="Shape 60"/>
          <p:cNvSpPr/>
          <p:nvPr/>
        </p:nvSpPr>
        <p:spPr>
          <a:xfrm>
            <a:off x="7232904" y="4626864"/>
            <a:ext cx="4352544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96912" y="4709160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Completeness, schema contract, and source-specific network support</a:t>
            </a:r>
            <a:endParaRPr lang="en-US" sz="1120" dirty="0"/>
          </a:p>
        </p:txBody>
      </p:sp>
      <p:sp>
        <p:nvSpPr>
          <p:cNvPr id="64" name="Shape 62"/>
          <p:cNvSpPr/>
          <p:nvPr/>
        </p:nvSpPr>
        <p:spPr>
          <a:xfrm>
            <a:off x="603504" y="5212080"/>
            <a:ext cx="1965960" cy="585216"/>
          </a:xfrm>
          <a:prstGeom prst="rect">
            <a:avLst/>
          </a:prstGeom>
          <a:solidFill>
            <a:srgbClr val="4338CA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512" y="5294376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M7 Open Mirroring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569464" y="5212080"/>
            <a:ext cx="16002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33472" y="5294376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partner</a:t>
            </a:r>
            <a:endParaRPr lang="en-US" sz="1120" dirty="0"/>
          </a:p>
        </p:txBody>
      </p:sp>
      <p:sp>
        <p:nvSpPr>
          <p:cNvPr id="68" name="Shape 66"/>
          <p:cNvSpPr/>
          <p:nvPr/>
        </p:nvSpPr>
        <p:spPr>
          <a:xfrm>
            <a:off x="4169664" y="5212080"/>
            <a:ext cx="30632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33672" y="5294376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CDC without Datasphere</a:t>
            </a:r>
            <a:endParaRPr lang="en-US" sz="1120" dirty="0"/>
          </a:p>
        </p:txBody>
      </p:sp>
      <p:sp>
        <p:nvSpPr>
          <p:cNvPr id="70" name="Shape 68"/>
          <p:cNvSpPr/>
          <p:nvPr/>
        </p:nvSpPr>
        <p:spPr>
          <a:xfrm>
            <a:off x="7232904" y="5212080"/>
            <a:ext cx="4352544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96912" y="5294376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License, certification, and support boundary</a:t>
            </a:r>
            <a:endParaRPr lang="en-US" sz="1120" dirty="0"/>
          </a:p>
        </p:txBody>
      </p:sp>
      <p:sp>
        <p:nvSpPr>
          <p:cNvPr id="72" name="Shape 70"/>
          <p:cNvSpPr/>
          <p:nvPr/>
        </p:nvSpPr>
        <p:spPr>
          <a:xfrm>
            <a:off x="603504" y="5797296"/>
            <a:ext cx="1965960" cy="585216"/>
          </a:xfrm>
          <a:prstGeom prst="rect">
            <a:avLst/>
          </a:prstGeom>
          <a:solidFill>
            <a:srgbClr val="AD145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7512" y="587959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M8 BDC Connect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2569464" y="5797296"/>
            <a:ext cx="1600200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33472" y="5879592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1120" dirty="0"/>
          </a:p>
        </p:txBody>
      </p:sp>
      <p:sp>
        <p:nvSpPr>
          <p:cNvPr id="76" name="Shape 74"/>
          <p:cNvSpPr/>
          <p:nvPr/>
        </p:nvSpPr>
        <p:spPr>
          <a:xfrm>
            <a:off x="4169664" y="5797296"/>
            <a:ext cx="3063240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33672" y="5879592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BDC and OneLake sharing</a:t>
            </a:r>
            <a:endParaRPr lang="en-US" sz="1120" dirty="0"/>
          </a:p>
        </p:txBody>
      </p:sp>
      <p:sp>
        <p:nvSpPr>
          <p:cNvPr id="78" name="Shape 76"/>
          <p:cNvSpPr/>
          <p:nvPr/>
        </p:nvSpPr>
        <p:spPr>
          <a:xfrm>
            <a:off x="7232904" y="5797296"/>
            <a:ext cx="4352544" cy="585216"/>
          </a:xfrm>
          <a:prstGeom prst="rect">
            <a:avLst/>
          </a:prstGeom>
          <a:solidFill>
            <a:srgbClr val="F0F2F7"/>
          </a:solidFill>
          <a:ln w="5715">
            <a:solidFill>
              <a:srgbClr val="DED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96912" y="5879592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Q1 2027 target, subject to change; no confirmed GA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ROUTE THE REQUIREMENT TO A PRODUCTION CANDIDATE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Decision guide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315968" y="1243584"/>
            <a:ext cx="3566160" cy="621792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07408" y="13167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the primary requirement?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99048" y="1865376"/>
            <a:ext cx="0" cy="22860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093976"/>
            <a:ext cx="9363456" cy="0"/>
          </a:xfrm>
          <a:prstGeom prst="line">
            <a:avLst/>
          </a:prstGeom>
          <a:noFill/>
          <a:ln w="22860">
            <a:solidFill>
              <a:srgbClr val="6970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6464" y="2093976"/>
            <a:ext cx="0" cy="228600"/>
          </a:xfrm>
          <a:prstGeom prst="line">
            <a:avLst/>
          </a:prstGeom>
          <a:noFill/>
          <a:ln w="1905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2648" y="2322576"/>
            <a:ext cx="1627632" cy="6583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" y="239572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 SAP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10128" y="2093976"/>
            <a:ext cx="0" cy="228600"/>
          </a:xfrm>
          <a:prstGeom prst="line">
            <a:avLst/>
          </a:prstGeom>
          <a:noFill/>
          <a:ln w="1905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96312" y="2322576"/>
            <a:ext cx="1627632" cy="65836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87752" y="239572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Managed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replica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93792" y="2093976"/>
            <a:ext cx="0" cy="228600"/>
          </a:xfrm>
          <a:prstGeom prst="line">
            <a:avLst/>
          </a:prstGeom>
          <a:noFill/>
          <a:ln w="1905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79976" y="2322576"/>
            <a:ext cx="1627632" cy="6583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71416" y="239572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BI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77456" y="2093976"/>
            <a:ext cx="0" cy="228600"/>
          </a:xfrm>
          <a:prstGeom prst="line">
            <a:avLst/>
          </a:prstGeom>
          <a:noFill/>
          <a:ln w="1905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2322576"/>
            <a:ext cx="1627632" cy="65836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239572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Governed SAP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exchange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61120" y="2093976"/>
            <a:ext cx="0" cy="228600"/>
          </a:xfrm>
          <a:prstGeom prst="line">
            <a:avLst/>
          </a:prstGeom>
          <a:noFill/>
          <a:ln w="1905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47304" y="2322576"/>
            <a:ext cx="1627632" cy="6583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38744" y="239572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Operational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844784" y="2093976"/>
            <a:ext cx="0" cy="228600"/>
          </a:xfrm>
          <a:prstGeom prst="line">
            <a:avLst/>
          </a:prstGeom>
          <a:noFill/>
          <a:ln w="19050">
            <a:solidFill>
              <a:srgbClr val="69708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30968" y="2322576"/>
            <a:ext cx="1627632" cy="65836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122408" y="239572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Future BDC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" y="3310128"/>
            <a:ext cx="5513832" cy="2633472"/>
          </a:xfrm>
          <a:prstGeom prst="rect">
            <a:avLst/>
          </a:prstGeom>
          <a:solidFill>
            <a:srgbClr val="F7F1FA"/>
          </a:solidFill>
          <a:ln w="10160">
            <a:solidFill>
              <a:srgbClr val="DE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575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data moves into Fabric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96112" y="401421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or watermark</a:t>
            </a:r>
            <a:endParaRPr lang="en-US" sz="1230" dirty="0"/>
          </a:p>
        </p:txBody>
      </p:sp>
      <p:sp>
        <p:nvSpPr>
          <p:cNvPr id="33" name="Shape 31"/>
          <p:cNvSpPr/>
          <p:nvPr/>
        </p:nvSpPr>
        <p:spPr>
          <a:xfrm>
            <a:off x="2578608" y="3986784"/>
            <a:ext cx="86868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78608" y="404164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86200" y="40050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supported classic connector or the ABAP Add-On.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896112" y="46268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Latest state from deltas</a:t>
            </a:r>
            <a:endParaRPr lang="en-US" sz="1230" dirty="0"/>
          </a:p>
        </p:txBody>
      </p:sp>
      <p:sp>
        <p:nvSpPr>
          <p:cNvPr id="37" name="Shape 35"/>
          <p:cNvSpPr/>
          <p:nvPr/>
        </p:nvSpPr>
        <p:spPr>
          <a:xfrm>
            <a:off x="2578608" y="4599432"/>
            <a:ext cx="1188720" cy="292608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78608" y="46542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M2 / M3 / M7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86200" y="4617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Datasphere mirroring, Copy Job CDC, or a verified partner.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896112" y="52395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intermediate change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2578608" y="5212080"/>
            <a:ext cx="868680" cy="29260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78608" y="526694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CONTRACT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86200" y="52303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a source event log or partner guarantee. No default method promises this.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6400800" y="3310128"/>
            <a:ext cx="5175504" cy="2633472"/>
          </a:xfrm>
          <a:prstGeom prst="rect">
            <a:avLst/>
          </a:prstGeom>
          <a:solidFill>
            <a:srgbClr val="F7F7FD"/>
          </a:solidFill>
          <a:ln w="10160">
            <a:solidFill>
              <a:srgbClr val="D8D9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84264" y="35753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 routes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684264" y="4069080"/>
            <a:ext cx="2057400" cy="640080"/>
          </a:xfrm>
          <a:prstGeom prst="rect">
            <a:avLst/>
          </a:prstGeom>
          <a:solidFill>
            <a:srgbClr val="ECF3FA"/>
          </a:solidFill>
          <a:ln w="10160">
            <a:solidFill>
              <a:srgbClr val="B4CE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30568" y="4178808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BI query</a:t>
            </a:r>
            <a:endParaRPr lang="en-US" sz="1110" dirty="0"/>
          </a:p>
        </p:txBody>
      </p:sp>
      <p:sp>
        <p:nvSpPr>
          <p:cNvPr id="48" name="Shape 46"/>
          <p:cNvSpPr/>
          <p:nvPr/>
        </p:nvSpPr>
        <p:spPr>
          <a:xfrm>
            <a:off x="8257032" y="4215384"/>
            <a:ext cx="356616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57032" y="4288536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015984" y="4069080"/>
            <a:ext cx="2057400" cy="640080"/>
          </a:xfrm>
          <a:prstGeom prst="rect">
            <a:avLst/>
          </a:prstGeom>
          <a:solidFill>
            <a:srgbClr val="EBF4F3"/>
          </a:solidFill>
          <a:ln w="10160">
            <a:solidFill>
              <a:srgbClr val="ADD4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62288" y="4178808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SAP-governed exchange</a:t>
            </a:r>
            <a:endParaRPr lang="en-US" sz="1110" dirty="0"/>
          </a:p>
        </p:txBody>
      </p:sp>
      <p:sp>
        <p:nvSpPr>
          <p:cNvPr id="52" name="Shape 50"/>
          <p:cNvSpPr/>
          <p:nvPr/>
        </p:nvSpPr>
        <p:spPr>
          <a:xfrm>
            <a:off x="10588752" y="4215384"/>
            <a:ext cx="356616" cy="3474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88752" y="4288536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684264" y="4910328"/>
            <a:ext cx="2057400" cy="640080"/>
          </a:xfrm>
          <a:prstGeom prst="rect">
            <a:avLst/>
          </a:prstGeom>
          <a:solidFill>
            <a:srgbClr val="FAF0EC"/>
          </a:solidFill>
          <a:ln w="10160">
            <a:solidFill>
              <a:srgbClr val="EBC2B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30568" y="5020056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Operational events</a:t>
            </a:r>
            <a:endParaRPr lang="en-US" sz="1110" dirty="0"/>
          </a:p>
        </p:txBody>
      </p:sp>
      <p:sp>
        <p:nvSpPr>
          <p:cNvPr id="56" name="Shape 54"/>
          <p:cNvSpPr/>
          <p:nvPr/>
        </p:nvSpPr>
        <p:spPr>
          <a:xfrm>
            <a:off x="8257032" y="5056632"/>
            <a:ext cx="356616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57032" y="5129784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015984" y="4910328"/>
            <a:ext cx="2057400" cy="640080"/>
          </a:xfrm>
          <a:prstGeom prst="rect">
            <a:avLst/>
          </a:prstGeom>
          <a:solidFill>
            <a:srgbClr val="F8ECF2"/>
          </a:solidFill>
          <a:ln w="10160">
            <a:solidFill>
              <a:srgbClr val="E5B4C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62288" y="5020056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Future BDC sharing</a:t>
            </a:r>
            <a:endParaRPr lang="en-US" sz="1110" dirty="0"/>
          </a:p>
        </p:txBody>
      </p:sp>
      <p:sp>
        <p:nvSpPr>
          <p:cNvPr id="60" name="Shape 58"/>
          <p:cNvSpPr/>
          <p:nvPr/>
        </p:nvSpPr>
        <p:spPr>
          <a:xfrm>
            <a:off x="10588752" y="5056632"/>
            <a:ext cx="356616" cy="34747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88752" y="5129784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</a:t>
            </a:r>
            <a:endParaRPr lang="en-US" sz="800" dirty="0"/>
          </a:p>
        </p:txBody>
      </p:sp>
      <p:sp>
        <p:nvSpPr>
          <p:cNvPr id="62" name="BPS solution guidance"/>
          <p:cNvSpPr txBox="1"/>
          <p:nvPr/>
        </p:nvSpPr>
        <p:spPr>
          <a:xfrm>
            <a:off x="896112" y="6035040"/>
            <a:ext cx="10378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100">
                <a:solidFill>
                  <a:srgbClr val="5B2C83"/>
                </a:solidFill>
                <a:latin typeface="Segoe UI"/>
              </a:rPr>
              <a:t>Need SAP finance, sales or procurement models? Add BPS above the supported source path.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CONSUMPTION AND ACCESS CONTROL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 Lake security: the effective identity changes the boundary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03504" y="11430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3F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 Lake is a consumption mode for Delta tables in OneLake. It is not an SAP connector.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" y="1664208"/>
            <a:ext cx="5330952" cy="3246120"/>
          </a:xfrm>
          <a:prstGeom prst="rect">
            <a:avLst/>
          </a:prstGeom>
          <a:solidFill>
            <a:srgbClr val="F7F1FA"/>
          </a:solidFill>
          <a:ln w="10160">
            <a:solidFill>
              <a:srgbClr val="DE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901952"/>
            <a:ext cx="1572768" cy="29260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56816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REPORT-ONLY CONSUMER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34440" y="3008376"/>
            <a:ext cx="1005840" cy="0"/>
          </a:xfrm>
          <a:prstGeom prst="line">
            <a:avLst/>
          </a:prstGeom>
          <a:noFill/>
          <a:ln w="19050">
            <a:solidFill>
              <a:srgbClr val="5B2C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63240" y="3008376"/>
            <a:ext cx="1005840" cy="0"/>
          </a:xfrm>
          <a:prstGeom prst="line">
            <a:avLst/>
          </a:prstGeom>
          <a:noFill/>
          <a:ln w="19050">
            <a:solidFill>
              <a:srgbClr val="5B2C8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6112" y="2615184"/>
            <a:ext cx="1115568" cy="749808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7552" y="2688336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Viewer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58568" y="2615184"/>
            <a:ext cx="1490472" cy="7498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50008" y="2688336"/>
            <a:ext cx="1307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 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semantic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86784" y="2615184"/>
            <a:ext cx="1490472" cy="74980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78224" y="2688336"/>
            <a:ext cx="1307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Fixed identity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SSO disabled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" y="3758184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Grant source permissions to the fixed identity, not the viewer. Give the viewer report and semantic-model Read only.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245352" y="1664208"/>
            <a:ext cx="5340096" cy="3246120"/>
          </a:xfrm>
          <a:prstGeom prst="rect">
            <a:avLst/>
          </a:prstGeom>
          <a:solidFill>
            <a:srgbClr val="F2EEF8"/>
          </a:solidFill>
          <a:ln w="10160">
            <a:solidFill>
              <a:srgbClr val="DE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0528" y="1901952"/>
            <a:ext cx="1078992" cy="2926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195681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SSO ENABLED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67144" y="3008376"/>
            <a:ext cx="1005840" cy="0"/>
          </a:xfrm>
          <a:prstGeom prst="line">
            <a:avLst/>
          </a:prstGeom>
          <a:noFill/>
          <a:ln w="19050">
            <a:solidFill>
              <a:srgbClr val="7F3FB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705088" y="3008376"/>
            <a:ext cx="1005840" cy="0"/>
          </a:xfrm>
          <a:prstGeom prst="line">
            <a:avLst/>
          </a:prstGeom>
          <a:noFill/>
          <a:ln w="19050">
            <a:solidFill>
              <a:srgbClr val="7F3FB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28816" y="2615184"/>
            <a:ext cx="1115568" cy="749808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0256" y="2688336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91272" y="2615184"/>
            <a:ext cx="1490472" cy="7498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82712" y="2688336"/>
            <a:ext cx="1307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 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semantic model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628632" y="2615184"/>
            <a:ext cx="1490472" cy="7498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720072" y="2688336"/>
            <a:ext cx="1307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Underlying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access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3758184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 Lake checks the user's source permissions. The user needs SQL or OneLake access for the selected mode and may reach the data through another path.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603504" y="5212080"/>
            <a:ext cx="10981944" cy="941832"/>
          </a:xfrm>
          <a:prstGeom prst="rect">
            <a:avLst/>
          </a:prstGeom>
          <a:solidFill>
            <a:srgbClr val="242038"/>
          </a:solidFill>
          <a:ln w="10160">
            <a:solidFill>
              <a:srgbClr val="2420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404104"/>
            <a:ext cx="5166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Contributor, Member, and Admin are privileged workspace roles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69864" y="53583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DE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have broad OneLake rights and implicit Write on semantic models, so model RLS and OLS do not apply. Use separate workspaces when a data engineer must be excluded from a reporting area or SAP domain.</a:t>
            </a:r>
            <a:endParaRPr lang="en-US" sz="12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ARCHITECTURE TO OPERATIONS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Production readiness is a set of testable gates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03504" y="1298448"/>
            <a:ext cx="3456432" cy="177393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463040"/>
            <a:ext cx="475488" cy="347472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522476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62456" y="1463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Eligibility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2020824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Release, deployment, SAP Notes, object, keys, and supported load mode.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352544" y="1298448"/>
            <a:ext cx="3456432" cy="177393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17136" y="1463040"/>
            <a:ext cx="475488" cy="34747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1522476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11496" y="1463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contract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3712" y="2020824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Deletes, late changes, schema evolution, currency, units, and identifiers.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8101584" y="1298448"/>
            <a:ext cx="3456432" cy="177393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66176" y="1463040"/>
            <a:ext cx="475488" cy="34747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1522476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0536" y="1463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consistency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02752" y="2020824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Related tables advance together and reconcile to SAP control totals.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03504" y="3383280"/>
            <a:ext cx="3456432" cy="177393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8096" y="3547872"/>
            <a:ext cx="475488" cy="347472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3607308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62456" y="35478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Network and identity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4105656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DNS, ports, endpoint policy, gateway, secrets, and certificate rotation.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4352544" y="3383280"/>
            <a:ext cx="3456432" cy="177393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17136" y="3547872"/>
            <a:ext cx="475488" cy="34747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17136" y="3607308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11496" y="35478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53712" y="4105656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 load, restart, replay, duplicates, backlog, and full-reload threshold.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8101584" y="3383280"/>
            <a:ext cx="3456432" cy="177393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66176" y="3547872"/>
            <a:ext cx="475488" cy="34747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66176" y="3607308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60536" y="35478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Cost and lifecycle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02752" y="4105656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Staging, egress, Premium Outbound, capacity, licensing, promotion, rollback.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603504" y="5596128"/>
            <a:ext cx="10981944" cy="576072"/>
          </a:xfrm>
          <a:prstGeom prst="rect">
            <a:avLst/>
          </a:prstGeom>
          <a:solidFill>
            <a:srgbClr val="242038"/>
          </a:solidFill>
          <a:ln w="10160">
            <a:solidFill>
              <a:srgbClr val="2420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580644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Freshness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569464" y="580644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352544" y="580644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Backlog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35624" y="580644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Recovery time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918704" y="580644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Reconciliation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701784" y="580644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loss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DECISION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Recommended starting points by scenario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987552" y="122529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SCENARIO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767328" y="122529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STARTING POINT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0020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50876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Nightly extraction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3767328" y="1508760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M1 classic connectors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13232" y="2121408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02996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Large extraction without ODP RFC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3767328" y="2029968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M1 ABAP Add-On, subject to Preview review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13232" y="2642616"/>
            <a:ext cx="16459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5117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Continuous replica with Datasphere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3767328" y="2551176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M2 Mirroring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13232" y="3163824"/>
            <a:ext cx="164592" cy="16459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07238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Controlled latest-state CDC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3767328" y="3072384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58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M3 with pair and data-guarantee checks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13232" y="3685032"/>
            <a:ext cx="164592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59359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must remain in SAP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3767328" y="3593592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M4 semantic federation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713232" y="4206240"/>
            <a:ext cx="164592" cy="16459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11480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team owns the outbound product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3767328" y="4114800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079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M5 plus M2, M3, or M6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713232" y="4727448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63600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Operational alerts and streaming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3767328" y="4636008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M6 Eventstream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713232" y="5248656"/>
            <a:ext cx="164592" cy="1645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515721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Near-real-time replication without Datasphere</a:t>
            </a:r>
            <a:endParaRPr lang="en-US" sz="1210" dirty="0"/>
          </a:p>
        </p:txBody>
      </p:sp>
      <p:sp>
        <p:nvSpPr>
          <p:cNvPr id="33" name="Text 31"/>
          <p:cNvSpPr/>
          <p:nvPr/>
        </p:nvSpPr>
        <p:spPr>
          <a:xfrm>
            <a:off x="3767328" y="5157216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M7 verified partner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713232" y="5769864"/>
            <a:ext cx="164592" cy="16459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567842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Packaged SAP business processing</a:t>
            </a:r>
            <a:endParaRPr lang="en-US" sz="1210" dirty="0"/>
          </a:p>
        </p:txBody>
      </p:sp>
      <p:sp>
        <p:nvSpPr>
          <p:cNvPr id="36" name="Text 34"/>
          <p:cNvSpPr/>
          <p:nvPr/>
        </p:nvSpPr>
        <p:spPr>
          <a:xfrm>
            <a:off x="3767328" y="5678424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D14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BPS with a supported source connection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6995160" y="1261872"/>
            <a:ext cx="4590288" cy="3794760"/>
          </a:xfrm>
          <a:prstGeom prst="rect">
            <a:avLst/>
          </a:prstGeom>
          <a:solidFill>
            <a:srgbClr val="242038"/>
          </a:solidFill>
          <a:ln w="10160">
            <a:solidFill>
              <a:srgbClr val="2420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1609344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decision record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7315200" y="2194560"/>
            <a:ext cx="3794760" cy="2414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edition, release, object, and required SAP Notes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data guarantee and measurable freshness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status, region, and commercial prerequisites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Identity, network, and workspace boundary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owner, replay point, and recovery threshold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 evidence and rollback path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995160" y="5349240"/>
            <a:ext cx="4590288" cy="822960"/>
          </a:xfrm>
          <a:prstGeom prst="rect">
            <a:avLst/>
          </a:prstGeom>
          <a:solidFill>
            <a:srgbClr val="F7F3F8"/>
          </a:solidFill>
          <a:ln w="10160">
            <a:solidFill>
              <a:srgbClr val="D9CE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78624" y="55321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 the guarantee first.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the transport second.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TRAIL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Primary documentation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03504" y="1234440"/>
            <a:ext cx="5468112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4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5270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Fabric and Power BI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96112" y="2093976"/>
            <a:ext cx="109728" cy="10972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066544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Fabric connector overview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96112" y="2670048"/>
            <a:ext cx="109728" cy="10972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264261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Mirrored databases from SAP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96112" y="3246120"/>
            <a:ext cx="109728" cy="10972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3218688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CDC in Copy Job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96112" y="3822192"/>
            <a:ext cx="109728" cy="10972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3794760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 Datasphere source in Eventstream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96112" y="4398264"/>
            <a:ext cx="109728" cy="10972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6424" y="4370832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Mirroring partner ecosystem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96112" y="4974336"/>
            <a:ext cx="109728" cy="10972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4946904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 Lake security integration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96112" y="5550408"/>
            <a:ext cx="109728" cy="10972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6424" y="552297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ADF SAP CDC architecture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364224" y="1234440"/>
            <a:ext cx="5221224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4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52704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BPS, releases, and roadmap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56832" y="2093976"/>
            <a:ext cx="109728" cy="10972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20665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Process Solutions overview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656832" y="2779776"/>
            <a:ext cx="109728" cy="10972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27523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BPS release notes and artifacts 1.0.5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656832" y="3465576"/>
            <a:ext cx="109728" cy="10972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67144" y="34381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 Community: BDC Connect roadmap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community.sap.com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656832" y="4151376"/>
            <a:ext cx="109728" cy="10972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67144" y="41239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FabCon Europe: September feature summary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community.fabric.microsoft.com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656832" y="4837176"/>
            <a:ext cx="109728" cy="10972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48097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u="sng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 to Microsoft Fabric Connectivity whitepaper v2.3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u="sng" dirty="0">
                <a:solidFill>
                  <a:srgbClr val="4A5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6665976" y="5468112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Status review: 6 October 2026. Release announcements do not override connector limits or SAP source restrictions.</a:t>
            </a:r>
            <a:endParaRPr lang="en-US" sz="11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PROCESS SOLUTIONS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BPS: SAP connections, notebooks and business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03504" y="1261872"/>
            <a:ext cx="3703320" cy="4526280"/>
          </a:xfrm>
          <a:prstGeom prst="rect">
            <a:avLst/>
          </a:prstGeom>
          <a:solidFill>
            <a:srgbClr val="242038"/>
          </a:solidFill>
          <a:ln w="10160">
            <a:solidFill>
              <a:srgbClr val="242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6420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business models</a:t>
            </a:r>
            <a:endParaRPr lang="en-US" sz="2900" dirty="0"/>
          </a:p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Fabric.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035808"/>
            <a:ext cx="2944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E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SAP connections and deploy notebooks, pipelines and business templates for finance, sales and procurement.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956048"/>
            <a:ext cx="2514600" cy="29260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010912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PROCESS SOLUTIONS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261872"/>
            <a:ext cx="3154680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82312" y="1426464"/>
            <a:ext cx="475488" cy="34747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48590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6672" y="1426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 sources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18888" y="2011680"/>
            <a:ext cx="27523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S/4HANA 1909+, ECC 6.0 and Salesforce, through their documented connection paths.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074152" y="1261872"/>
            <a:ext cx="3154680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38744" y="1426464"/>
            <a:ext cx="475488" cy="347472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148590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33104" y="142646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Extract datasets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75320" y="2011680"/>
            <a:ext cx="27523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ADF SAP CDC, Datasphere or partner extraction. Check source eligibility and patch status.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617720" y="3520440"/>
            <a:ext cx="3154680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3685032"/>
            <a:ext cx="475488" cy="347472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3744468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76672" y="368503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processing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18888" y="4270248"/>
            <a:ext cx="27523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Notebooks and pipelines apply SAP type mappings, hierarchies and currency conversion.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8074152" y="3520440"/>
            <a:ext cx="3154680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38744" y="3685032"/>
            <a:ext cx="475488" cy="347472"/>
          </a:xfrm>
          <a:prstGeom prst="rect">
            <a:avLst/>
          </a:prstGeom>
          <a:solidFill>
            <a:srgbClr val="242038"/>
          </a:solidFill>
          <a:ln w="12700">
            <a:solidFill>
              <a:srgbClr val="2420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8744" y="3744468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33104" y="368503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Publish models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75320" y="4270248"/>
            <a:ext cx="27523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Silver and Gold business models with reporting templates. Bronze is optional.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4617720" y="5897880"/>
            <a:ext cx="6611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BPS is a Fabric solution layer above supported extraction paths, not a ninth transport protocol.</a:t>
            </a:r>
            <a:endParaRPr lang="en-US" sz="12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BPS CONNECTIONS AND PREREQUISITES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BPS: source paths and deployment gates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987552" y="122529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OR REQUIREMENT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767328" y="122529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DOCUMENTED BPS PATH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0020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50876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S/4HANA 1909+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3767328" y="1508760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ADF, Datasphere, or Open Mirroring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13232" y="2121408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02996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ECC 6.0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3767328" y="2029968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Open Mirroring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13232" y="2642616"/>
            <a:ext cx="16459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5117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Salesforce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3767328" y="2551176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Fabric pipelines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13232" y="3163824"/>
            <a:ext cx="164592" cy="16459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07238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Fabric capacity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3767328" y="3072384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58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F2 minimum; F32+ recommended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13232" y="3685032"/>
            <a:ext cx="164592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59359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 type metadata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3767328" y="3593592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DD03ND for Datasphere / Open Mirroring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713232" y="4206240"/>
            <a:ext cx="164592" cy="16459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11480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ADF SAP CDC path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3767328" y="4114800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079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ODP RFC patch review required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713232" y="4727448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63600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processing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3767328" y="4636008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notebooks and pipelines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713232" y="5248656"/>
            <a:ext cx="164592" cy="1645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515721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models</a:t>
            </a:r>
            <a:endParaRPr lang="en-US" sz="1210" dirty="0"/>
          </a:p>
        </p:txBody>
      </p:sp>
      <p:sp>
        <p:nvSpPr>
          <p:cNvPr id="33" name="Text 31"/>
          <p:cNvSpPr/>
          <p:nvPr/>
        </p:nvSpPr>
        <p:spPr>
          <a:xfrm>
            <a:off x="3767328" y="5157216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 and Gold; Bronze optional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713232" y="5769864"/>
            <a:ext cx="164592" cy="16459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567842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domains</a:t>
            </a:r>
            <a:endParaRPr lang="en-US" sz="1210" dirty="0"/>
          </a:p>
        </p:txBody>
      </p:sp>
      <p:sp>
        <p:nvSpPr>
          <p:cNvPr id="36" name="Text 34"/>
          <p:cNvSpPr/>
          <p:nvPr/>
        </p:nvSpPr>
        <p:spPr>
          <a:xfrm>
            <a:off x="3767328" y="5678424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D14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Finance, sales and procurement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6995160" y="1261872"/>
            <a:ext cx="4590288" cy="3794760"/>
          </a:xfrm>
          <a:prstGeom prst="rect">
            <a:avLst/>
          </a:prstGeom>
          <a:solidFill>
            <a:srgbClr val="242038"/>
          </a:solidFill>
          <a:ln w="10160">
            <a:solidFill>
              <a:srgbClr val="2420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1609344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Deployment checks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7315200" y="2194560"/>
            <a:ext cx="3794760" cy="2414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BPS in a supported Fabric capacity region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SAP release, objects and extraction rights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SAP Note 3255746 before using ADF SAP CDC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 DD03ND for Datasphere and Open Mirroring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identities, schedules, monitoring and replay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5E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1.0.5 high-concurrency and ECC R2R updates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995160" y="5349240"/>
            <a:ext cx="4590288" cy="822960"/>
          </a:xfrm>
          <a:prstGeom prst="rect">
            <a:avLst/>
          </a:prstGeom>
          <a:solidFill>
            <a:srgbClr val="F7F3F8"/>
          </a:solidFill>
          <a:ln w="10160">
            <a:solidFill>
              <a:srgbClr val="D9CE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78624" y="55321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Artifacts 1.0.5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Telemetry and selective runs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38328"/>
            <a:ext cx="164592" cy="164592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1089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25D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FABCON EUROPE AND OCTOBER 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60350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October 2026: release status and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7F5FA"/>
          </a:solidFill>
          <a:ln w="12700">
            <a:solidFill>
              <a:srgbClr val="F7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15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whitepaper v2.3 and FabCon Europe, reviewed 6 Oct 2026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1210544" y="65379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51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03504" y="1298448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463040"/>
            <a:ext cx="457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52247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62456" y="146304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ABAP source scope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2377440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includes BW 7.50 and BW/4HANA. Watermarks do not capture hard deletes.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" y="2048256"/>
            <a:ext cx="1280160" cy="2926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10312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PREVIEW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56432" y="1298448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21024" y="1463040"/>
            <a:ext cx="4572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152247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15384" y="146304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Mirroring extensions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657600" y="2377440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paid CDF is GA. Confirm SAP support for each extension.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0" y="2048256"/>
            <a:ext cx="685800" cy="29260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10312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1298448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73952" y="1463040"/>
            <a:ext cx="457200" cy="34747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152247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68312" y="146304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 Job features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10528" y="2377440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CDC, history, audit and monitoring: GA. Eventstream source/destination: Preview.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10528" y="2048256"/>
            <a:ext cx="1417320" cy="29260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210312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 + PREVIEW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62288" y="1298448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26880" y="1463040"/>
            <a:ext cx="457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0" y="152247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21240" y="146304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Fabric IQ in Copilot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363456" y="2377440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and Cowork can use governed semantic models. No BDC Connect requirement.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363456" y="2048256"/>
            <a:ext cx="685800" cy="29260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63456" y="210312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" y="3648456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3813048"/>
            <a:ext cx="457200" cy="3474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" y="387248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62456" y="3813048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Dataflow write controls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04672" y="4727448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V-Order settings separate staging and destination writes for SAP preparation.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04672" y="4398264"/>
            <a:ext cx="1051560" cy="2926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445312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56432" y="3648456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21024" y="3813048"/>
            <a:ext cx="45720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1024" y="387248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15384" y="3813048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Datasphere Eventstream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3657600" y="4727448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SAP source is GA. Premium Outbound required; no separate ADLS staging.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657600" y="4398264"/>
            <a:ext cx="1051560" cy="292608"/>
          </a:xfrm>
          <a:prstGeom prst="rect">
            <a:avLst/>
          </a:prstGeom>
          <a:solidFill>
            <a:srgbClr val="7F3FBF"/>
          </a:solidFill>
          <a:ln w="12700">
            <a:solidFill>
              <a:srgbClr val="7F3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45312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09360" y="3648456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73952" y="3813048"/>
            <a:ext cx="457200" cy="34747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387248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68312" y="3813048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 operations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6510528" y="4727448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Maintenance and retry back-off: GA. Dependencies and richer monitoring: Preview.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510528" y="4398264"/>
            <a:ext cx="1325880" cy="292608"/>
          </a:xfrm>
          <a:prstGeom prst="rect">
            <a:avLst/>
          </a:prstGeom>
          <a:solidFill>
            <a:srgbClr val="76717F"/>
          </a:solidFill>
          <a:ln w="12700">
            <a:solidFill>
              <a:srgbClr val="76717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44531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 + PREVIEW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162288" y="3648456"/>
            <a:ext cx="2578608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8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326880" y="3813048"/>
            <a:ext cx="457200" cy="34747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0" y="387248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M8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921240" y="3813048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20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BDC Connect roadmap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9363456" y="4727448"/>
            <a:ext cx="2176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Q1 2027 target from SAP Community, subject to change. No confirmed GA.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363456" y="4398264"/>
            <a:ext cx="914400" cy="292608"/>
          </a:xfrm>
          <a:prstGeom prst="rect">
            <a:avLst/>
          </a:prstGeom>
          <a:solidFill>
            <a:srgbClr val="C239B3"/>
          </a:solidFill>
          <a:ln w="12700">
            <a:solidFill>
              <a:srgbClr val="C239B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63456" y="44531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PLANNED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to Microsoft Fabric Connectivity</dc:title>
  <dc:subject>SAP to Microsoft Fabric connectivity architecture</dc:subject>
  <dc:creator>Frederic Gisbert</dc:creator>
  <cp:lastModifiedBy>Frederic Gisbert</cp:lastModifiedBy>
  <cp:revision>1</cp:revision>
  <dcterms:created xsi:type="dcterms:W3CDTF">2026-09-11T16:01:25Z</dcterms:created>
  <dcterms:modified xsi:type="dcterms:W3CDTF">2026-09-11T16:01:25Z</dcterms:modified>
</cp:coreProperties>
</file>